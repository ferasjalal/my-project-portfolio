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75" r:id="rId5"/>
    <p:sldId id="258" r:id="rId6"/>
    <p:sldId id="259" r:id="rId7"/>
    <p:sldId id="260" r:id="rId8"/>
    <p:sldId id="272" r:id="rId9"/>
    <p:sldId id="273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8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C88-39FD-208F-7A59-B203E9E0B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ED00EA-1410-CD95-4EC9-D1AED86EA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37FF7-AA93-BDA5-02C9-65D17622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3FC06-F5DB-4819-A791-8BF350D5A91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29D0E-FD99-0A35-2118-4C2EDA75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2686D-7FFD-259C-6D07-3A78DAC9D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F2B11-EDBC-42E9-9CA7-D836EA079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2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564C-579E-025D-6FC0-DD7B2B926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C75D1-407D-782C-AE3A-6FAEE3D52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E22E5-2EF5-7596-BBED-1DAFFEEBF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3FC06-F5DB-4819-A791-8BF350D5A91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14A4A-326C-C2C2-C2D7-86B10D66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57F21-1C8B-DEB8-6D91-A99F8A50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F2B11-EDBC-42E9-9CA7-D836EA079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0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29F73-9177-CC1C-39D0-8068098AC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EDEF3-D3FB-9275-7C16-137C35DDB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5A166-EC7A-3DA4-0E8D-956459BD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3FC06-F5DB-4819-A791-8BF350D5A91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79FC6-5285-15F0-5F16-1A67F9C19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A7C09-7845-48F0-D943-B56117697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F2B11-EDBC-42E9-9CA7-D836EA079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51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9905-5F6F-4E81-400F-CE2BFB220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EB401-8426-A8A4-C5A5-1D863B4A7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42C0E-EC74-2A07-8DE2-DFA8C9DCB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BFC7F-C1D3-FC47-E815-B30B8CB37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3FC06-F5DB-4819-A791-8BF350D5A91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7B0CB-9F66-6610-6959-6504E470F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CD4E1-8484-8897-04FD-B94382DF6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F2B11-EDBC-42E9-9CA7-D836EA079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9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19FFD-C532-58B0-1757-D68FE6E22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73DB7-A399-F0D0-D132-498DBE955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8F95E-664A-7D23-29A5-80FB313A5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5E4EE-2747-7C9D-1CA1-0E20081B0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928DD2-05A5-2986-9468-8F31BF032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F804FA-6C25-A4A6-18CD-4BF2EC792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3FC06-F5DB-4819-A791-8BF350D5A91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4294E2-C9B8-4BF1-3B26-7B1FB2913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E0F2C7-2D8E-1ACA-B10E-8908BA4D3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F2B11-EDBC-42E9-9CA7-D836EA079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7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304D6-C1EA-1672-688B-45E7B693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09CB8D-DB5E-B8EA-748F-F74EF865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3FC06-F5DB-4819-A791-8BF350D5A91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FE271-1E48-A25D-4BC7-C925FE1F2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CAB167-9C71-08BD-47A9-00813A67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F2B11-EDBC-42E9-9CA7-D836EA079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37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5B0539-97E4-405A-B50F-6DCF05A99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3FC06-F5DB-4819-A791-8BF350D5A91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EA783D-1FC5-C832-F374-7F5A9CCC5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E5A42-0C0D-158C-7182-0637EE8BB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F2B11-EDBC-42E9-9CA7-D836EA079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18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99B8-9D13-DDC7-A9C8-29BD627C8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66448-ED36-7FA0-4204-98EACC63C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0977E-B1DE-FAFC-B86D-1C7557E88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D3B93-02B3-7718-DBEB-31BD93C40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3FC06-F5DB-4819-A791-8BF350D5A91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9C2D1-54C6-27D5-E03D-AB614AFD8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86B6E-C3A9-FABF-4A9C-903EDB2C3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F2B11-EDBC-42E9-9CA7-D836EA079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55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B98D-AAA6-D948-9C08-FB40B5B1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C503B-C2F5-62BC-11C2-476C4BFEE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2080C-1615-E631-1560-6E8587DE8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ACAAE-F51E-E9B7-34BD-8DB5E8390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3FC06-F5DB-4819-A791-8BF350D5A91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7CE2E-FC23-A0FA-433A-9455F1CD3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93D77-586A-EFCF-F0B8-B79ACBFF0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F2B11-EDBC-42E9-9CA7-D836EA079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6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3C4A4-5C1F-160E-5738-81DE3BF6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DEC42-5360-9594-8A45-87B55B694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AF10-46E3-2813-03FC-F5B80C34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3FC06-F5DB-4819-A791-8BF350D5A91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98202-5FA0-A351-7DDD-4FE86C278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38B5A-0BBA-38C6-4111-EB858350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F2B11-EDBC-42E9-9CA7-D836EA079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22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3D5162-C063-1E93-82F2-A7758800B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18ED6-0F3C-32F5-D965-D062D33DA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0C5B5-AFA1-A868-0960-2DA3E0974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3FC06-F5DB-4819-A791-8BF350D5A91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D2003-5948-1393-BA10-5A114A5E8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43E34-CECA-E9E1-8F9B-DA35E6B9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F2B11-EDBC-42E9-9CA7-D836EA079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981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4F0A05-3390-6B43-9A98-1CDBFC233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877CA-161E-A2AF-2060-306DC598B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BDAB4-B77A-C3C8-8340-93A1C6F9D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3FC06-F5DB-4819-A791-8BF350D5A91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6FDD1-9409-9959-F3E8-D4EEC1E2A1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C7E91-9BF4-3D79-5BEF-067C1A4ED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F2B11-EDBC-42E9-9CA7-D836EA079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40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81D2C-F661-FFCB-599F-336ABCB29D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NLP Classification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C954E-CE43-9C46-3E75-5C60FF4B10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95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820AD8-BA18-4F8D-2F8F-573EFB42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17387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/>
              <a:t>Preprocessing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51EB17-0609-014D-B1ED-CF29B8C7CF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279919"/>
              </p:ext>
            </p:extLst>
          </p:nvPr>
        </p:nvGraphicFramePr>
        <p:xfrm>
          <a:off x="1994916" y="1945567"/>
          <a:ext cx="8202171" cy="4245098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154036">
                  <a:extLst>
                    <a:ext uri="{9D8B030D-6E8A-4147-A177-3AD203B41FA5}">
                      <a16:colId xmlns:a16="http://schemas.microsoft.com/office/drawing/2014/main" val="497226866"/>
                    </a:ext>
                  </a:extLst>
                </a:gridCol>
                <a:gridCol w="1896871">
                  <a:extLst>
                    <a:ext uri="{9D8B030D-6E8A-4147-A177-3AD203B41FA5}">
                      <a16:colId xmlns:a16="http://schemas.microsoft.com/office/drawing/2014/main" val="1375239550"/>
                    </a:ext>
                  </a:extLst>
                </a:gridCol>
                <a:gridCol w="2056815">
                  <a:extLst>
                    <a:ext uri="{9D8B030D-6E8A-4147-A177-3AD203B41FA5}">
                      <a16:colId xmlns:a16="http://schemas.microsoft.com/office/drawing/2014/main" val="270873964"/>
                    </a:ext>
                  </a:extLst>
                </a:gridCol>
                <a:gridCol w="2094449">
                  <a:extLst>
                    <a:ext uri="{9D8B030D-6E8A-4147-A177-3AD203B41FA5}">
                      <a16:colId xmlns:a16="http://schemas.microsoft.com/office/drawing/2014/main" val="862675398"/>
                    </a:ext>
                  </a:extLst>
                </a:gridCol>
              </a:tblGrid>
              <a:tr h="427521">
                <a:tc>
                  <a:txBody>
                    <a:bodyPr/>
                    <a:lstStyle/>
                    <a:p>
                      <a:r>
                        <a:rPr lang="en-US" sz="1400" b="0" cap="none" spc="0">
                          <a:solidFill>
                            <a:schemeClr val="bg1"/>
                          </a:solidFill>
                        </a:rPr>
                        <a:t>Task</a:t>
                      </a:r>
                    </a:p>
                  </a:txBody>
                  <a:tcPr marL="117418" marR="90321" marT="90321" marB="9032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cap="none" spc="0">
                          <a:solidFill>
                            <a:schemeClr val="bg1"/>
                          </a:solidFill>
                        </a:rPr>
                        <a:t>Used libraries </a:t>
                      </a:r>
                    </a:p>
                  </a:txBody>
                  <a:tcPr marL="117418" marR="90321" marT="90321" marB="9032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cap="none" spc="0">
                          <a:solidFill>
                            <a:schemeClr val="bg1"/>
                          </a:solidFill>
                        </a:rPr>
                        <a:t>Other libraries</a:t>
                      </a:r>
                    </a:p>
                  </a:txBody>
                  <a:tcPr marL="117418" marR="90321" marT="90321" marB="9032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cap="none" spc="0" dirty="0">
                          <a:solidFill>
                            <a:schemeClr val="bg1"/>
                          </a:solidFill>
                        </a:rPr>
                        <a:t>Explanation </a:t>
                      </a:r>
                    </a:p>
                  </a:txBody>
                  <a:tcPr marL="117418" marR="90321" marT="90321" marB="9032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174996"/>
                  </a:ext>
                </a:extLst>
              </a:tr>
              <a:tr h="638270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Text Cleaning </a:t>
                      </a:r>
                    </a:p>
                  </a:txBody>
                  <a:tcPr marL="117418" marR="90321" marT="90321" marB="9032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re (regex)  (</a:t>
                      </a:r>
                      <a:r>
                        <a:rPr lang="en-US" sz="1400" cap="none" spc="0" err="1">
                          <a:solidFill>
                            <a:schemeClr val="tx1"/>
                          </a:solidFill>
                        </a:rPr>
                        <a:t>re.sub</a:t>
                      </a: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())</a:t>
                      </a:r>
                    </a:p>
                  </a:txBody>
                  <a:tcPr marL="117418" marR="90321" marT="90321" marB="9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Str (</a:t>
                      </a:r>
                      <a:r>
                        <a:rPr lang="en-US" sz="1400" cap="none" spc="0" err="1">
                          <a:solidFill>
                            <a:schemeClr val="tx1"/>
                          </a:solidFill>
                        </a:rPr>
                        <a:t>str.replace</a:t>
                      </a: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())</a:t>
                      </a:r>
                    </a:p>
                  </a:txBody>
                  <a:tcPr marL="117418" marR="90321" marT="90321" marB="9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re is built-in, efficient, and customizable.</a:t>
                      </a:r>
                    </a:p>
                  </a:txBody>
                  <a:tcPr marL="117418" marR="90321" marT="90321" marB="9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041088"/>
                  </a:ext>
                </a:extLst>
              </a:tr>
              <a:tr h="1059769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Tokenization, Stopword Removal</a:t>
                      </a:r>
                    </a:p>
                  </a:txBody>
                  <a:tcPr marL="117418" marR="90321" marT="90321" marB="9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err="1">
                          <a:solidFill>
                            <a:schemeClr val="tx1"/>
                          </a:solidFill>
                        </a:rPr>
                        <a:t>nltk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418" marR="90321" marT="90321" marB="9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err="1">
                          <a:solidFill>
                            <a:schemeClr val="tx1"/>
                          </a:solidFill>
                        </a:rPr>
                        <a:t>spaCy</a:t>
                      </a: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cap="none" spc="0" err="1">
                          <a:solidFill>
                            <a:schemeClr val="tx1"/>
                          </a:solidFill>
                        </a:rPr>
                        <a:t>textblob</a:t>
                      </a: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, clean-text, scikit-learn</a:t>
                      </a:r>
                    </a:p>
                  </a:txBody>
                  <a:tcPr marL="117418" marR="90321" marT="90321" marB="9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err="1">
                          <a:solidFill>
                            <a:schemeClr val="tx1"/>
                          </a:solidFill>
                        </a:rPr>
                        <a:t>nltk</a:t>
                      </a: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 includes Arabic </a:t>
                      </a:r>
                      <a:r>
                        <a:rPr lang="en-US" sz="1400" cap="none" spc="0" err="1">
                          <a:solidFill>
                            <a:schemeClr val="tx1"/>
                          </a:solidFill>
                        </a:rPr>
                        <a:t>stopwords</a:t>
                      </a: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; widely supported and documented.</a:t>
                      </a:r>
                    </a:p>
                  </a:txBody>
                  <a:tcPr marL="117418" marR="90321" marT="90321" marB="9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025043"/>
                  </a:ext>
                </a:extLst>
              </a:tr>
              <a:tr h="1059769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Lemmatization </a:t>
                      </a:r>
                    </a:p>
                  </a:txBody>
                  <a:tcPr marL="117418" marR="90321" marT="90321" marB="9032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err="1">
                          <a:solidFill>
                            <a:schemeClr val="tx1"/>
                          </a:solidFill>
                        </a:rPr>
                        <a:t>farasa</a:t>
                      </a: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117418" marR="90321" marT="90321" marB="9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err="1">
                          <a:solidFill>
                            <a:schemeClr val="tx1"/>
                          </a:solidFill>
                        </a:rPr>
                        <a:t>CAMeL</a:t>
                      </a: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 Tools</a:t>
                      </a:r>
                    </a:p>
                  </a:txBody>
                  <a:tcPr marL="117418" marR="90321" marT="90321" marB="9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Farasa is optimized for Arabic morphology.   </a:t>
                      </a:r>
                    </a:p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Others lack in limited Arabic support</a:t>
                      </a:r>
                    </a:p>
                  </a:txBody>
                  <a:tcPr marL="117418" marR="90321" marT="90321" marB="9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035926"/>
                  </a:ext>
                </a:extLst>
              </a:tr>
              <a:tr h="1059769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Normalization, Diacritics Removal</a:t>
                      </a:r>
                    </a:p>
                  </a:txBody>
                  <a:tcPr marL="117418" marR="90321" marT="90321" marB="9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err="1">
                          <a:solidFill>
                            <a:schemeClr val="tx1"/>
                          </a:solidFill>
                        </a:rPr>
                        <a:t>arabert.preprocess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418" marR="90321" marT="90321" marB="9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err="1">
                          <a:solidFill>
                            <a:schemeClr val="tx1"/>
                          </a:solidFill>
                        </a:rPr>
                        <a:t>CAMeL</a:t>
                      </a: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 Tools, </a:t>
                      </a:r>
                      <a:r>
                        <a:rPr lang="en-US" sz="1400" cap="none" spc="0" err="1">
                          <a:solidFill>
                            <a:schemeClr val="tx1"/>
                          </a:solidFill>
                        </a:rPr>
                        <a:t>nltk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418" marR="90321" marT="90321" marB="9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It works for all embeddings and support BERT unlike other libraries </a:t>
                      </a:r>
                    </a:p>
                  </a:txBody>
                  <a:tcPr marL="117418" marR="90321" marT="90321" marB="9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521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619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9016D9-31C8-5315-67AF-EDD0EF316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09" y="353681"/>
            <a:ext cx="6572382" cy="97431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000" b="1" dirty="0"/>
              <a:t>More in preprocessing </a:t>
            </a:r>
            <a:br>
              <a:rPr lang="en-US" sz="4000" b="1" dirty="0"/>
            </a:br>
            <a:r>
              <a:rPr lang="en-US" sz="4000" b="1" dirty="0"/>
              <a:t>Used libraries </a:t>
            </a:r>
          </a:p>
        </p:txBody>
      </p:sp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04E40FEA-9A95-997E-F648-C7947CAFB2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3649997"/>
              </p:ext>
            </p:extLst>
          </p:nvPr>
        </p:nvGraphicFramePr>
        <p:xfrm>
          <a:off x="2809809" y="1827875"/>
          <a:ext cx="6572384" cy="3533418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  <a:tableStyleId>{8799B23B-EC83-4686-B30A-512413B5E67A}</a:tableStyleId>
              </a:tblPr>
              <a:tblGrid>
                <a:gridCol w="1543549">
                  <a:extLst>
                    <a:ext uri="{9D8B030D-6E8A-4147-A177-3AD203B41FA5}">
                      <a16:colId xmlns:a16="http://schemas.microsoft.com/office/drawing/2014/main" val="3469376538"/>
                    </a:ext>
                  </a:extLst>
                </a:gridCol>
                <a:gridCol w="1788942">
                  <a:extLst>
                    <a:ext uri="{9D8B030D-6E8A-4147-A177-3AD203B41FA5}">
                      <a16:colId xmlns:a16="http://schemas.microsoft.com/office/drawing/2014/main" val="802242230"/>
                    </a:ext>
                  </a:extLst>
                </a:gridCol>
                <a:gridCol w="3239893">
                  <a:extLst>
                    <a:ext uri="{9D8B030D-6E8A-4147-A177-3AD203B41FA5}">
                      <a16:colId xmlns:a16="http://schemas.microsoft.com/office/drawing/2014/main" val="4083867001"/>
                    </a:ext>
                  </a:extLst>
                </a:gridCol>
              </a:tblGrid>
              <a:tr h="309720">
                <a:tc>
                  <a:txBody>
                    <a:bodyPr/>
                    <a:lstStyle/>
                    <a:p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5064" marR="37851" marT="65434" marB="65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Library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5064" marR="37851" marT="65434" marB="65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How It Works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5064" marR="37851" marT="65434" marB="65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79282"/>
                  </a:ext>
                </a:extLst>
              </a:tr>
              <a:tr h="767755">
                <a:tc>
                  <a:txBody>
                    <a:bodyPr/>
                    <a:lstStyle/>
                    <a:p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Text Cleaning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5064" marR="37851" marT="65434" marB="65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re (re.sub())</a:t>
                      </a:r>
                    </a:p>
                  </a:txBody>
                  <a:tcPr marL="85064" marR="37851" marT="65434" marB="65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Uses </a:t>
                      </a: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regular expressions</a:t>
                      </a: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 to search and replace patterns (e.g., remove punctuation, diacritics, digits). Example: re.sub("[^\w\s]", "", text) removes punctuation.</a:t>
                      </a:r>
                    </a:p>
                  </a:txBody>
                  <a:tcPr marL="85064" marR="37851" marT="65434" marB="65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215844"/>
                  </a:ext>
                </a:extLst>
              </a:tr>
              <a:tr h="767755">
                <a:tc>
                  <a:txBody>
                    <a:bodyPr/>
                    <a:lstStyle/>
                    <a:p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Tokenization, Stopword Removal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5064" marR="37851" marT="65434" marB="65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nltk</a:t>
                      </a:r>
                    </a:p>
                  </a:txBody>
                  <a:tcPr marL="85064" marR="37851" marT="65434" marB="65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nltk.word_tokenize() splits Arabic sentences into tokens. nltk.corpus.stopwords.words('arabic') provides a list of common stopwords that can be removed with a loop or list comprehension.</a:t>
                      </a:r>
                    </a:p>
                  </a:txBody>
                  <a:tcPr marL="85064" marR="37851" marT="65434" marB="65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603537"/>
                  </a:ext>
                </a:extLst>
              </a:tr>
              <a:tr h="767755">
                <a:tc>
                  <a:txBody>
                    <a:bodyPr/>
                    <a:lstStyle/>
                    <a:p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Lemmatization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5064" marR="37851" marT="65434" marB="65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farasa</a:t>
                      </a:r>
                    </a:p>
                  </a:txBody>
                  <a:tcPr marL="85064" marR="37851" marT="65434" marB="65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Farasa uses </a:t>
                      </a: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morphological analysis</a:t>
                      </a: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 for Arabic. It splits, stems, and lemmatizes words using machine-learned patterns specific to Arabic morphology. It supports diacritized and non-diacritized text.</a:t>
                      </a:r>
                    </a:p>
                  </a:txBody>
                  <a:tcPr marL="85064" marR="37851" marT="65434" marB="65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851579"/>
                  </a:ext>
                </a:extLst>
              </a:tr>
              <a:tr h="920433">
                <a:tc>
                  <a:txBody>
                    <a:bodyPr/>
                    <a:lstStyle/>
                    <a:p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Normalization, Diacritics Removal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5064" marR="37851" marT="65434" marB="65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arabert.preprocess</a:t>
                      </a:r>
                    </a:p>
                  </a:txBody>
                  <a:tcPr marL="85064" marR="37851" marT="65434" marB="65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Provides built-in methods like </a:t>
                      </a:r>
                      <a:r>
                        <a:rPr lang="en-US" sz="1000" cap="none" spc="0" err="1">
                          <a:solidFill>
                            <a:schemeClr val="tx1"/>
                          </a:solidFill>
                        </a:rPr>
                        <a:t>remove_diacritics</a:t>
                      </a: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(text), </a:t>
                      </a:r>
                      <a:r>
                        <a:rPr lang="en-US" sz="1000" cap="none" spc="0" err="1">
                          <a:solidFill>
                            <a:schemeClr val="tx1"/>
                          </a:solidFill>
                        </a:rPr>
                        <a:t>normalize_arabic</a:t>
                      </a: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(text) to standardize Arabic letters (e.g., convert all forms of Alif to one), remove </a:t>
                      </a:r>
                      <a:r>
                        <a:rPr lang="en-US" sz="1000" cap="none" spc="0" err="1">
                          <a:solidFill>
                            <a:schemeClr val="tx1"/>
                          </a:solidFill>
                        </a:rPr>
                        <a:t>Tatweel</a:t>
                      </a: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, diacritics, etc. It’s specifically designed to match AraBERT’s training preprocessing.</a:t>
                      </a:r>
                    </a:p>
                  </a:txBody>
                  <a:tcPr marL="85064" marR="37851" marT="65434" marB="654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480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6351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11ACCD-6A20-E1DF-27C6-94B1BBE6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3600" b="1" dirty="0"/>
              <a:t>More about preprocessing</a:t>
            </a:r>
            <a:br>
              <a:rPr lang="en-US" sz="3600" b="1" dirty="0"/>
            </a:br>
            <a:r>
              <a:rPr lang="en-US" sz="3600" b="1" dirty="0"/>
              <a:t>other libraries 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99D136-A98B-7D53-84AE-8D1A9BA84D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868463"/>
              </p:ext>
            </p:extLst>
          </p:nvPr>
        </p:nvGraphicFramePr>
        <p:xfrm>
          <a:off x="243840" y="2062952"/>
          <a:ext cx="11780520" cy="4490248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</a:tblPr>
              <a:tblGrid>
                <a:gridCol w="2004587">
                  <a:extLst>
                    <a:ext uri="{9D8B030D-6E8A-4147-A177-3AD203B41FA5}">
                      <a16:colId xmlns:a16="http://schemas.microsoft.com/office/drawing/2014/main" val="2494470649"/>
                    </a:ext>
                  </a:extLst>
                </a:gridCol>
                <a:gridCol w="1274917">
                  <a:extLst>
                    <a:ext uri="{9D8B030D-6E8A-4147-A177-3AD203B41FA5}">
                      <a16:colId xmlns:a16="http://schemas.microsoft.com/office/drawing/2014/main" val="1626671659"/>
                    </a:ext>
                  </a:extLst>
                </a:gridCol>
                <a:gridCol w="4262703">
                  <a:extLst>
                    <a:ext uri="{9D8B030D-6E8A-4147-A177-3AD203B41FA5}">
                      <a16:colId xmlns:a16="http://schemas.microsoft.com/office/drawing/2014/main" val="2535482445"/>
                    </a:ext>
                  </a:extLst>
                </a:gridCol>
                <a:gridCol w="4238313">
                  <a:extLst>
                    <a:ext uri="{9D8B030D-6E8A-4147-A177-3AD203B41FA5}">
                      <a16:colId xmlns:a16="http://schemas.microsoft.com/office/drawing/2014/main" val="2947621231"/>
                    </a:ext>
                  </a:extLst>
                </a:gridCol>
              </a:tblGrid>
              <a:tr h="511084">
                <a:tc>
                  <a:txBody>
                    <a:bodyPr/>
                    <a:lstStyle/>
                    <a:p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en-US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Other Library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How It Works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Limitations in Arabic NLP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284959"/>
                  </a:ext>
                </a:extLst>
              </a:tr>
              <a:tr h="693616">
                <a:tc>
                  <a:txBody>
                    <a:bodyPr/>
                    <a:lstStyle/>
                    <a:p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Text Cleaning</a:t>
                      </a:r>
                      <a:endParaRPr lang="en-US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str.replace()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A Python string method that performs character/substring replacement (text.replace("!", "")).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Lacks flexibility for pattern matching — not ideal for removing punctuation or complex symbols.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572462"/>
                  </a:ext>
                </a:extLst>
              </a:tr>
              <a:tr h="693616">
                <a:tc>
                  <a:txBody>
                    <a:bodyPr/>
                    <a:lstStyle/>
                    <a:p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Tokenization / Stopword Removal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 dirty="0" err="1">
                          <a:solidFill>
                            <a:schemeClr val="tx1"/>
                          </a:solidFill>
                        </a:rPr>
                        <a:t>spaCy</a:t>
                      </a:r>
                      <a:endParaRPr lang="en-US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Uses rule-based and statistical tokenizers, with nlp(text) creating a Doc object containing token.text.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Limited Arabic support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; may split Arabic improperly without custom models.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360286"/>
                  </a:ext>
                </a:extLst>
              </a:tr>
              <a:tr h="511084">
                <a:tc>
                  <a:txBody>
                    <a:bodyPr/>
                    <a:lstStyle/>
                    <a:p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textblob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Tokenizes using NLTK internally; allows </a:t>
                      </a:r>
                      <a:r>
                        <a:rPr lang="en-US" sz="1100" cap="none" spc="0" dirty="0" err="1">
                          <a:solidFill>
                            <a:schemeClr val="tx1"/>
                          </a:solidFill>
                        </a:rPr>
                        <a:t>TextBlob</a:t>
                      </a: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(text).words.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Not optimized for Arabic, better for English tasks.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28422"/>
                  </a:ext>
                </a:extLst>
              </a:tr>
              <a:tr h="693616">
                <a:tc>
                  <a:txBody>
                    <a:bodyPr/>
                    <a:lstStyle/>
                    <a:p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clean-text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A Python package with high-level functions like clean(text) to remove URLs, digits, punctuation, emojis, etc.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Generic cleaning only — </a:t>
                      </a: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no Arabic-specific logic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687559"/>
                  </a:ext>
                </a:extLst>
              </a:tr>
              <a:tr h="693616">
                <a:tc>
                  <a:txBody>
                    <a:bodyPr/>
                    <a:lstStyle/>
                    <a:p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Lemmatization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CAMeL Tools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Developed for Arabic; offers tokenization, POS tagging, lemmatization via </a:t>
                      </a:r>
                      <a:r>
                        <a:rPr lang="en-US" sz="1100" cap="none" spc="0" dirty="0" err="1">
                          <a:solidFill>
                            <a:schemeClr val="tx1"/>
                          </a:solidFill>
                        </a:rPr>
                        <a:t>CAMeLTools.morphology</a:t>
                      </a: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Requires more setup, slower than Farasa, and less documented in educational tutorials.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932216"/>
                  </a:ext>
                </a:extLst>
              </a:tr>
              <a:tr h="693616">
                <a:tc>
                  <a:txBody>
                    <a:bodyPr/>
                    <a:lstStyle/>
                    <a:p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Normalization / Diacritics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CAMeL Tools, nltk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CAMeL includes letter normalization; NLTK can remove punctuation but not normalize Arabic letters.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 dirty="0" err="1">
                          <a:solidFill>
                            <a:schemeClr val="tx1"/>
                          </a:solidFill>
                        </a:rPr>
                        <a:t>nltk</a:t>
                      </a: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 lacks Arabic normalization functions; </a:t>
                      </a:r>
                      <a:r>
                        <a:rPr lang="en-US" sz="1100" cap="none" spc="0" dirty="0" err="1">
                          <a:solidFill>
                            <a:schemeClr val="tx1"/>
                          </a:solidFill>
                        </a:rPr>
                        <a:t>CAMeL</a:t>
                      </a: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 is not tightly integrated with BERT workflows.</a:t>
                      </a:r>
                    </a:p>
                  </a:txBody>
                  <a:tcPr marL="32592" marR="32592" marT="81512" marB="162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71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8087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A642772-2521-3FAB-B405-4D9468237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42F055-6099-72BC-ABBF-8767B33D1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8747" y="1548606"/>
            <a:ext cx="3473179" cy="22417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b="1" dirty="0" err="1"/>
              <a:t>Differece</a:t>
            </a:r>
            <a:r>
              <a:rPr lang="en-US" sz="3700" b="1" dirty="0"/>
              <a:t>  between </a:t>
            </a:r>
            <a:r>
              <a:rPr lang="en-US" sz="3700" b="1" dirty="0" err="1"/>
              <a:t>re.sub</a:t>
            </a:r>
            <a:r>
              <a:rPr lang="en-US" sz="3700" b="1" dirty="0"/>
              <a:t>() &amp; </a:t>
            </a:r>
            <a:r>
              <a:rPr lang="en-US" sz="3700" b="1" dirty="0" err="1"/>
              <a:t>str.replace</a:t>
            </a:r>
            <a:r>
              <a:rPr lang="en-US" sz="3700" b="1" dirty="0"/>
              <a:t>()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CBFAC1-5DF2-9DBE-7B7E-C9747A9A89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871736"/>
              </p:ext>
            </p:extLst>
          </p:nvPr>
        </p:nvGraphicFramePr>
        <p:xfrm>
          <a:off x="510073" y="1243987"/>
          <a:ext cx="7365844" cy="437002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808235">
                  <a:extLst>
                    <a:ext uri="{9D8B030D-6E8A-4147-A177-3AD203B41FA5}">
                      <a16:colId xmlns:a16="http://schemas.microsoft.com/office/drawing/2014/main" val="3593282112"/>
                    </a:ext>
                  </a:extLst>
                </a:gridCol>
                <a:gridCol w="2858146">
                  <a:extLst>
                    <a:ext uri="{9D8B030D-6E8A-4147-A177-3AD203B41FA5}">
                      <a16:colId xmlns:a16="http://schemas.microsoft.com/office/drawing/2014/main" val="338015736"/>
                    </a:ext>
                  </a:extLst>
                </a:gridCol>
                <a:gridCol w="2699463">
                  <a:extLst>
                    <a:ext uri="{9D8B030D-6E8A-4147-A177-3AD203B41FA5}">
                      <a16:colId xmlns:a16="http://schemas.microsoft.com/office/drawing/2014/main" val="931446870"/>
                    </a:ext>
                  </a:extLst>
                </a:gridCol>
              </a:tblGrid>
              <a:tr h="685585">
                <a:tc>
                  <a:txBody>
                    <a:bodyPr/>
                    <a:lstStyle/>
                    <a:p>
                      <a:r>
                        <a:rPr lang="en-US" sz="2200" b="0" cap="none" spc="6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marL="229335" marR="176411" marT="125207" marB="17641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cap="none" spc="60" err="1">
                          <a:solidFill>
                            <a:schemeClr val="bg1"/>
                          </a:solidFill>
                        </a:rPr>
                        <a:t>re.sub</a:t>
                      </a:r>
                      <a:r>
                        <a:rPr lang="en-US" sz="2200" b="0" cap="none" spc="60">
                          <a:solidFill>
                            <a:schemeClr val="bg1"/>
                          </a:solidFill>
                        </a:rPr>
                        <a:t>()</a:t>
                      </a:r>
                    </a:p>
                  </a:txBody>
                  <a:tcPr marL="229335" marR="176411" marT="125207" marB="17641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cap="none" spc="60" err="1">
                          <a:solidFill>
                            <a:schemeClr val="bg1"/>
                          </a:solidFill>
                        </a:rPr>
                        <a:t>Str.replace</a:t>
                      </a:r>
                      <a:r>
                        <a:rPr lang="en-US" sz="2200" b="0" cap="none" spc="60">
                          <a:solidFill>
                            <a:schemeClr val="bg1"/>
                          </a:solidFill>
                        </a:rPr>
                        <a:t>()</a:t>
                      </a:r>
                    </a:p>
                  </a:txBody>
                  <a:tcPr marL="229335" marR="176411" marT="125207" marB="176411" anchor="ctr"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891343"/>
                  </a:ext>
                </a:extLst>
              </a:tr>
              <a:tr h="1228148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Support regular expression </a:t>
                      </a:r>
                    </a:p>
                  </a:txBody>
                  <a:tcPr marL="229335" marR="176411" marT="125207" marB="17641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Matches pattern </a:t>
                      </a:r>
                    </a:p>
                  </a:txBody>
                  <a:tcPr marL="229335" marR="176411" marT="125207" marB="17641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Only replaces exact substrings </a:t>
                      </a:r>
                    </a:p>
                  </a:txBody>
                  <a:tcPr marL="229335" marR="176411" marT="125207" marB="17641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234638"/>
                  </a:ext>
                </a:extLst>
              </a:tr>
              <a:tr h="1228148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Flexibility </a:t>
                      </a:r>
                    </a:p>
                  </a:txBody>
                  <a:tcPr marL="229335" marR="176411" marT="125207" marB="17641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It removes: punctuation, digits, harakat</a:t>
                      </a:r>
                    </a:p>
                  </a:txBody>
                  <a:tcPr marL="229335" marR="176411" marT="125207" marB="17641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Only replaces specific characters and words</a:t>
                      </a:r>
                    </a:p>
                  </a:txBody>
                  <a:tcPr marL="229335" marR="176411" marT="125207" marB="17641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256468"/>
                  </a:ext>
                </a:extLst>
              </a:tr>
              <a:tr h="1228148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Multiple pattern matching </a:t>
                      </a:r>
                    </a:p>
                  </a:txBody>
                  <a:tcPr marL="229335" marR="176411" marT="125207" marB="17641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Allows combining rules like [^\w\s] (remove punctuation)</a:t>
                      </a:r>
                    </a:p>
                  </a:txBody>
                  <a:tcPr marL="229335" marR="176411" marT="125207" marB="17641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Not possible — you’d need many .replace() calls</a:t>
                      </a:r>
                    </a:p>
                  </a:txBody>
                  <a:tcPr marL="229335" marR="176411" marT="125207" marB="17641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159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05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1584A0-9AF4-2653-0D84-D25A3AD2D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1400" b="1"/>
              <a:t>Removing stop words (relying in the dataset)</a:t>
            </a:r>
            <a:br>
              <a:rPr lang="en-US" sz="1400" b="1"/>
            </a:br>
            <a:r>
              <a:rPr lang="en-US" sz="1400" b="1"/>
              <a:t>Total words = 472,696,   stopwords = 63,017, stopwords ratio ~ 17%</a:t>
            </a:r>
            <a:br>
              <a:rPr lang="en-US" sz="1400" b="1"/>
            </a:br>
            <a:endParaRPr lang="en-US" sz="14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419479-B29B-A9AD-D33F-EC6B397B4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864949"/>
              </p:ext>
            </p:extLst>
          </p:nvPr>
        </p:nvGraphicFramePr>
        <p:xfrm>
          <a:off x="1994916" y="1987730"/>
          <a:ext cx="8202169" cy="4160772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3293712">
                  <a:extLst>
                    <a:ext uri="{9D8B030D-6E8A-4147-A177-3AD203B41FA5}">
                      <a16:colId xmlns:a16="http://schemas.microsoft.com/office/drawing/2014/main" val="1334348486"/>
                    </a:ext>
                  </a:extLst>
                </a:gridCol>
                <a:gridCol w="1819185">
                  <a:extLst>
                    <a:ext uri="{9D8B030D-6E8A-4147-A177-3AD203B41FA5}">
                      <a16:colId xmlns:a16="http://schemas.microsoft.com/office/drawing/2014/main" val="4069609189"/>
                    </a:ext>
                  </a:extLst>
                </a:gridCol>
                <a:gridCol w="3089272">
                  <a:extLst>
                    <a:ext uri="{9D8B030D-6E8A-4147-A177-3AD203B41FA5}">
                      <a16:colId xmlns:a16="http://schemas.microsoft.com/office/drawing/2014/main" val="986447504"/>
                    </a:ext>
                  </a:extLst>
                </a:gridCol>
              </a:tblGrid>
              <a:tr h="1040193">
                <a:tc>
                  <a:txBody>
                    <a:bodyPr/>
                    <a:lstStyle/>
                    <a:p>
                      <a:r>
                        <a:rPr lang="en-US" sz="2300" b="0" cap="none" spc="0">
                          <a:solidFill>
                            <a:schemeClr val="bg1"/>
                          </a:solidFill>
                        </a:rPr>
                        <a:t>Word Representation </a:t>
                      </a:r>
                    </a:p>
                  </a:txBody>
                  <a:tcPr marL="191356" marR="137458" marT="147197" marB="147197" anchor="ctr">
                    <a:lnL w="1905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b="0" cap="none" spc="0">
                          <a:solidFill>
                            <a:schemeClr val="bg1"/>
                          </a:solidFill>
                        </a:rPr>
                        <a:t>Removing </a:t>
                      </a:r>
                      <a:r>
                        <a:rPr lang="en-US" sz="2300" b="0" cap="none" spc="0" err="1">
                          <a:solidFill>
                            <a:schemeClr val="bg1"/>
                          </a:solidFill>
                        </a:rPr>
                        <a:t>stopwords</a:t>
                      </a:r>
                      <a:endParaRPr lang="en-US" sz="23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91356" marR="137458" marT="147197" marB="14719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b="0" cap="none" spc="0">
                          <a:solidFill>
                            <a:schemeClr val="bg1"/>
                          </a:solidFill>
                        </a:rPr>
                        <a:t>Explanation </a:t>
                      </a:r>
                    </a:p>
                  </a:txBody>
                  <a:tcPr marL="191356" marR="137458" marT="147197" marB="14719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37493"/>
                  </a:ext>
                </a:extLst>
              </a:tr>
              <a:tr h="1040193"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TF-IDF</a:t>
                      </a:r>
                    </a:p>
                  </a:txBody>
                  <a:tcPr marL="191356" marR="137458" marT="147197" marB="147197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Yes </a:t>
                      </a:r>
                    </a:p>
                  </a:txBody>
                  <a:tcPr marL="191356" marR="137458" marT="147197" marB="147197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Yes removing </a:t>
                      </a:r>
                      <a:r>
                        <a:rPr lang="en-US" sz="2300" cap="none" spc="0" err="1">
                          <a:solidFill>
                            <a:schemeClr val="tx1"/>
                          </a:solidFill>
                        </a:rPr>
                        <a:t>stopwords</a:t>
                      </a: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 is crucial </a:t>
                      </a:r>
                    </a:p>
                  </a:txBody>
                  <a:tcPr marL="191356" marR="137458" marT="147197" marB="147197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462266"/>
                  </a:ext>
                </a:extLst>
              </a:tr>
              <a:tr h="1040193"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Word2Vec  / </a:t>
                      </a:r>
                      <a:r>
                        <a:rPr lang="en-US" sz="2300" cap="none" spc="0" err="1">
                          <a:solidFill>
                            <a:schemeClr val="tx1"/>
                          </a:solidFill>
                        </a:rPr>
                        <a:t>FastText</a:t>
                      </a:r>
                      <a:endParaRPr lang="en-US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91356" marR="137458" marT="147197" marB="147197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191356" marR="137458" marT="147197" marB="147197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cap="none" spc="0" err="1">
                          <a:solidFill>
                            <a:schemeClr val="tx1"/>
                          </a:solidFill>
                        </a:rPr>
                        <a:t>Stopwords</a:t>
                      </a: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 may weaking the results</a:t>
                      </a:r>
                    </a:p>
                  </a:txBody>
                  <a:tcPr marL="191356" marR="137458" marT="147197" marB="147197">
                    <a:lnL w="635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021786"/>
                  </a:ext>
                </a:extLst>
              </a:tr>
              <a:tr h="1040193"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AraBERT</a:t>
                      </a:r>
                    </a:p>
                  </a:txBody>
                  <a:tcPr marL="191356" marR="137458" marT="147197" marB="147197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191356" marR="137458" marT="147197" marB="147197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Because they rely in sentence flow</a:t>
                      </a:r>
                    </a:p>
                  </a:txBody>
                  <a:tcPr marL="191356" marR="137458" marT="147197" marB="147197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12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649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186E5-9D9C-4872-6793-6E6A61AB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</a:t>
            </a:r>
            <a:r>
              <a:rPr lang="en-US" dirty="0" err="1"/>
              <a:t>stopwords</a:t>
            </a:r>
            <a:r>
              <a:rPr lang="en-US" dirty="0"/>
              <a:t> (classification task)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76874-4C56-F6D6-0F80-1ADC8C363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Traditional classification models:</a:t>
            </a:r>
          </a:p>
          <a:p>
            <a:pPr marL="0" indent="0">
              <a:buNone/>
            </a:pPr>
            <a:r>
              <a:rPr lang="en-US" dirty="0"/>
              <a:t>Removing </a:t>
            </a:r>
            <a:r>
              <a:rPr lang="en-US" dirty="0" err="1"/>
              <a:t>stopwords</a:t>
            </a:r>
            <a:r>
              <a:rPr lang="en-US" dirty="0"/>
              <a:t> is enhancing the results because they rely on frequency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Pretrained models : removing </a:t>
            </a:r>
            <a:r>
              <a:rPr lang="en-US" dirty="0" err="1"/>
              <a:t>stopwords</a:t>
            </a:r>
            <a:r>
              <a:rPr lang="en-US" dirty="0"/>
              <a:t> may damage the results(not always)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Neural models: depends on the used embeddings but in most times removing increases the results</a:t>
            </a:r>
          </a:p>
        </p:txBody>
      </p:sp>
    </p:spTree>
    <p:extLst>
      <p:ext uri="{BB962C8B-B14F-4D97-AF65-F5344CB8AC3E}">
        <p14:creationId xmlns:p14="http://schemas.microsoft.com/office/powerpoint/2010/main" val="2008451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D0364-BE0A-9FF9-1F94-3972186A2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Before and After Preprocessing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7455EBF-91D1-A13B-7FF7-29A810E5A3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6575204"/>
              </p:ext>
            </p:extLst>
          </p:nvPr>
        </p:nvGraphicFramePr>
        <p:xfrm>
          <a:off x="838200" y="2675414"/>
          <a:ext cx="10515600" cy="21031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86350730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735639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Step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Arabic Text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837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Original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JO"/>
                        <a:t>"عندي حساسية جتني بعد استخدام نظام عذائي"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96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After Removing Diacritics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JO"/>
                        <a:t>"عندي حساسية جتني بعد استخدام نظام عذائي" </a:t>
                      </a:r>
                      <a:r>
                        <a:rPr lang="ar-JO" i="1"/>
                        <a:t>(</a:t>
                      </a:r>
                      <a:r>
                        <a:rPr lang="en-US" i="1"/>
                        <a:t>no visible diacritics were present, so unchanged)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806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After Stopword Removal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JO" dirty="0"/>
                        <a:t>"حساسية </a:t>
                      </a:r>
                      <a:r>
                        <a:rPr lang="ar-JO" dirty="0" err="1"/>
                        <a:t>جتني</a:t>
                      </a:r>
                      <a:r>
                        <a:rPr lang="ar-JO" dirty="0"/>
                        <a:t> استخدام نظام </a:t>
                      </a:r>
                      <a:r>
                        <a:rPr lang="ar-JO" dirty="0" err="1"/>
                        <a:t>عذائي</a:t>
                      </a:r>
                      <a:r>
                        <a:rPr lang="ar-JO" dirty="0"/>
                        <a:t>" </a:t>
                      </a:r>
                      <a:r>
                        <a:rPr lang="en-US" dirty="0"/>
                        <a:t>Removed: "</a:t>
                      </a:r>
                      <a:r>
                        <a:rPr lang="ar-JO" dirty="0"/>
                        <a:t>عندي", "بعد"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681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After Lemmatization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JO" dirty="0"/>
                        <a:t>"حساسية جاء استخدام نظام غذاء</a:t>
                      </a:r>
                      <a:r>
                        <a:rPr lang="ar-JO"/>
                        <a:t>" 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532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793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29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120414-6215-2035-43F1-0DA6665A04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0664837"/>
              </p:ext>
            </p:extLst>
          </p:nvPr>
        </p:nvGraphicFramePr>
        <p:xfrm>
          <a:off x="1188062" y="1969293"/>
          <a:ext cx="9356110" cy="4106865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</a:tblPr>
              <a:tblGrid>
                <a:gridCol w="2687807">
                  <a:extLst>
                    <a:ext uri="{9D8B030D-6E8A-4147-A177-3AD203B41FA5}">
                      <a16:colId xmlns:a16="http://schemas.microsoft.com/office/drawing/2014/main" val="1951046103"/>
                    </a:ext>
                  </a:extLst>
                </a:gridCol>
                <a:gridCol w="1564354">
                  <a:extLst>
                    <a:ext uri="{9D8B030D-6E8A-4147-A177-3AD203B41FA5}">
                      <a16:colId xmlns:a16="http://schemas.microsoft.com/office/drawing/2014/main" val="775347893"/>
                    </a:ext>
                  </a:extLst>
                </a:gridCol>
                <a:gridCol w="1340483">
                  <a:extLst>
                    <a:ext uri="{9D8B030D-6E8A-4147-A177-3AD203B41FA5}">
                      <a16:colId xmlns:a16="http://schemas.microsoft.com/office/drawing/2014/main" val="3874118419"/>
                    </a:ext>
                  </a:extLst>
                </a:gridCol>
                <a:gridCol w="996485">
                  <a:extLst>
                    <a:ext uri="{9D8B030D-6E8A-4147-A177-3AD203B41FA5}">
                      <a16:colId xmlns:a16="http://schemas.microsoft.com/office/drawing/2014/main" val="145371974"/>
                    </a:ext>
                  </a:extLst>
                </a:gridCol>
                <a:gridCol w="2766981">
                  <a:extLst>
                    <a:ext uri="{9D8B030D-6E8A-4147-A177-3AD203B41FA5}">
                      <a16:colId xmlns:a16="http://schemas.microsoft.com/office/drawing/2014/main" val="2248355050"/>
                    </a:ext>
                  </a:extLst>
                </a:gridCol>
              </a:tblGrid>
              <a:tr h="821373">
                <a:tc>
                  <a:txBody>
                    <a:bodyPr/>
                    <a:lstStyle/>
                    <a:p>
                      <a:r>
                        <a:rPr lang="en-US" sz="1800" b="0" cap="none" spc="0">
                          <a:solidFill>
                            <a:schemeClr val="bg1"/>
                          </a:solidFill>
                        </a:rPr>
                        <a:t>Preprocessing Method</a:t>
                      </a:r>
                    </a:p>
                  </a:txBody>
                  <a:tcPr marL="155691" marR="119762" marT="119762" marB="119762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155691" marR="119762" marT="119762" marB="11976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marL="155691" marR="119762" marT="119762" marB="11976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>
                          <a:solidFill>
                            <a:schemeClr val="bg1"/>
                          </a:solidFill>
                        </a:rPr>
                        <a:t>F1-Score</a:t>
                      </a:r>
                    </a:p>
                  </a:txBody>
                  <a:tcPr marL="155691" marR="119762" marT="119762" marB="11976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>
                          <a:solidFill>
                            <a:schemeClr val="bg1"/>
                          </a:solidFill>
                        </a:rPr>
                        <a:t>Notes</a:t>
                      </a:r>
                    </a:p>
                  </a:txBody>
                  <a:tcPr marL="155691" marR="119762" marT="119762" marB="11976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151731"/>
                  </a:ext>
                </a:extLst>
              </a:tr>
              <a:tr h="821373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Raw Text</a:t>
                      </a:r>
                    </a:p>
                  </a:txBody>
                  <a:tcPr marL="155691" marR="119762" marT="119762" marB="11976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Logistic Regression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0.79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0.78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Baseline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189433"/>
                  </a:ext>
                </a:extLst>
              </a:tr>
              <a:tr h="821373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Stopword Removed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Logistic Regression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0.84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0.83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Less noise → better for frequency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881272"/>
                  </a:ext>
                </a:extLst>
              </a:tr>
              <a:tr h="821373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Stopword Removed + Normalized</a:t>
                      </a:r>
                    </a:p>
                  </a:txBody>
                  <a:tcPr marL="155691" marR="119762" marT="119762" marB="11976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Logistic Regression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0.87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691" marR="119762" marT="119762" marB="11976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0.87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691" marR="119762" marT="119762" marB="11976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Best result with TF-IDF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000438"/>
                  </a:ext>
                </a:extLst>
              </a:tr>
              <a:tr h="821373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Fully Cleaned (with Stemming)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AraBERT + LSTM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0.86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0.86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Best result for neural models</a:t>
                      </a:r>
                    </a:p>
                  </a:txBody>
                  <a:tcPr marL="155691" marR="119762" marT="119762" marB="119762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344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590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CD933-F538-D4D0-00B1-2131DB92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7F1D5B-D646-242E-8BBF-5662F5D6C8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7475713"/>
              </p:ext>
            </p:extLst>
          </p:nvPr>
        </p:nvGraphicFramePr>
        <p:xfrm>
          <a:off x="838200" y="1825625"/>
          <a:ext cx="10515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2457266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0115695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04863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2091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51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Embeddings \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TF-IDF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CBoW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Fasttext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ArabBERT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090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37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952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518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597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806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ADEF-670F-BE7E-3F05-5CC53E5D9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6178F7-2E35-1C6A-6F2F-FCD4419DD7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8542558"/>
              </p:ext>
            </p:extLst>
          </p:nvPr>
        </p:nvGraphicFramePr>
        <p:xfrm>
          <a:off x="838200" y="1825625"/>
          <a:ext cx="10515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8312739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746657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223959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493350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03535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Embeddings \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TF_IDF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CBoW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Fasttext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ArabBERT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817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682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301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Recall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247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F1 -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659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729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94114-943C-91C4-46BB-8E84FF12E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D5A577-4C1A-C15A-4230-9AB93EB063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3047328"/>
              </p:ext>
            </p:extLst>
          </p:nvPr>
        </p:nvGraphicFramePr>
        <p:xfrm>
          <a:off x="838200" y="1825625"/>
          <a:ext cx="1051559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32694761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491085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79263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Embeddings \ </a:t>
                      </a:r>
                    </a:p>
                    <a:p>
                      <a:r>
                        <a:rPr lang="en-US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Fasttext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ArabBert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84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47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33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24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678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7828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30C55-5283-8F60-5940-BD060F8B8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2CDD47-39CD-FFAE-EA49-C9F2C1310F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8005466"/>
              </p:ext>
            </p:extLst>
          </p:nvPr>
        </p:nvGraphicFramePr>
        <p:xfrm>
          <a:off x="838200" y="1825625"/>
          <a:ext cx="1051559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93090594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5624955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12751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Embeddings \ </a:t>
                      </a:r>
                    </a:p>
                    <a:p>
                      <a:r>
                        <a:rPr lang="en-US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Fasttext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ArabBERT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11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468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665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742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053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732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822A-2306-F328-9BDC-23D5BBA5E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Embedding technique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918A6-36A8-981D-7B03-1A34993B0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640"/>
            <a:ext cx="10515600" cy="544068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Why AraBERT is better (Linguistic and Technical Reasons):</a:t>
            </a:r>
          </a:p>
          <a:p>
            <a:r>
              <a:rPr lang="en-US" b="1" dirty="0"/>
              <a:t>Language-Specific Understanding</a:t>
            </a:r>
            <a:br>
              <a:rPr lang="en-US" dirty="0"/>
            </a:br>
            <a:r>
              <a:rPr lang="en-US" dirty="0"/>
              <a:t>AraBERT is pretrained on a large Arabic corpus, capturing </a:t>
            </a:r>
            <a:r>
              <a:rPr lang="en-US" b="1" dirty="0"/>
              <a:t>morphological richness</a:t>
            </a:r>
            <a:r>
              <a:rPr lang="en-US" dirty="0"/>
              <a:t>, </a:t>
            </a:r>
            <a:r>
              <a:rPr lang="en-US" b="1" dirty="0"/>
              <a:t>diacritics</a:t>
            </a:r>
            <a:r>
              <a:rPr lang="en-US" dirty="0"/>
              <a:t>, and </a:t>
            </a:r>
            <a:r>
              <a:rPr lang="en-US" b="1" dirty="0"/>
              <a:t>complex word structures</a:t>
            </a:r>
            <a:r>
              <a:rPr lang="en-US" dirty="0"/>
              <a:t> better than generic embeddings like </a:t>
            </a:r>
            <a:r>
              <a:rPr lang="en-US" dirty="0" err="1"/>
              <a:t>FastText</a:t>
            </a:r>
            <a:r>
              <a:rPr lang="en-US" dirty="0"/>
              <a:t> or TF-IDF.</a:t>
            </a:r>
          </a:p>
          <a:p>
            <a:r>
              <a:rPr lang="en-US" b="1" dirty="0"/>
              <a:t>Contextual Embeddings</a:t>
            </a:r>
            <a:br>
              <a:rPr lang="en-US" dirty="0"/>
            </a:br>
            <a:r>
              <a:rPr lang="en-US" dirty="0"/>
              <a:t>Unlike TF-IDF or </a:t>
            </a:r>
            <a:r>
              <a:rPr lang="en-US" dirty="0" err="1"/>
              <a:t>CBoW</a:t>
            </a:r>
            <a:r>
              <a:rPr lang="en-US" dirty="0"/>
              <a:t> which are </a:t>
            </a:r>
            <a:r>
              <a:rPr lang="en-US" b="1" dirty="0"/>
              <a:t>static</a:t>
            </a:r>
            <a:r>
              <a:rPr lang="en-US" dirty="0"/>
              <a:t>, AraBERT uses </a:t>
            </a:r>
            <a:r>
              <a:rPr lang="en-US" b="1" dirty="0"/>
              <a:t>transformers</a:t>
            </a:r>
            <a:r>
              <a:rPr lang="en-US" dirty="0"/>
              <a:t> to generate </a:t>
            </a:r>
            <a:r>
              <a:rPr lang="en-US" b="1" dirty="0"/>
              <a:t>context-aware representations</a:t>
            </a:r>
            <a:r>
              <a:rPr lang="en-US" dirty="0"/>
              <a:t>, improving performance especially in models like LSTM and RNN.</a:t>
            </a:r>
          </a:p>
          <a:p>
            <a:r>
              <a:rPr lang="en-US" b="1" dirty="0"/>
              <a:t>Generalization and Robustness</a:t>
            </a:r>
            <a:br>
              <a:rPr lang="en-US" dirty="0"/>
            </a:br>
            <a:r>
              <a:rPr lang="en-US" dirty="0"/>
              <a:t>AraBERT shows </a:t>
            </a:r>
            <a:r>
              <a:rPr lang="en-US" b="1" dirty="0"/>
              <a:t>high and consistent performance</a:t>
            </a:r>
            <a:r>
              <a:rPr lang="en-US" dirty="0"/>
              <a:t> across both shallow (Naïve Bayes, Logistic Regression) and deep (RNN, LSTM) models — a sign of strong generalization.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874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5345-9279-4227-FEEF-9328B6DBF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 Best Embeddings technique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8C039-D4BF-CD0C-3A0A-941EA7058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Other Embeddings (Quick Summary):</a:t>
            </a:r>
          </a:p>
          <a:p>
            <a:r>
              <a:rPr lang="en-US" b="1" dirty="0"/>
              <a:t>TF-IDF</a:t>
            </a:r>
            <a:r>
              <a:rPr lang="en-US" dirty="0"/>
              <a:t>: Great with Logistic Regression (0.87 accuracy), but it’s not context-aware and underperforms with RNN/LSTM.</a:t>
            </a:r>
          </a:p>
          <a:p>
            <a:r>
              <a:rPr lang="en-US" b="1" dirty="0" err="1"/>
              <a:t>FastText</a:t>
            </a:r>
            <a:r>
              <a:rPr lang="en-US" dirty="0"/>
              <a:t>: Good with RNN (0.81 F1), but </a:t>
            </a:r>
            <a:r>
              <a:rPr lang="en-US" b="1" dirty="0"/>
              <a:t>completely fails with LSTM</a:t>
            </a:r>
            <a:r>
              <a:rPr lang="en-US" dirty="0"/>
              <a:t>.</a:t>
            </a:r>
          </a:p>
          <a:p>
            <a:r>
              <a:rPr lang="en-US" b="1" dirty="0" err="1"/>
              <a:t>CBoW</a:t>
            </a:r>
            <a:r>
              <a:rPr lang="en-US" dirty="0"/>
              <a:t>: Weakest overall — low scores across all metrics and models.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721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FC9DD-DA71-224A-982F-B41209E1C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Model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110767-3E52-7A11-AAEC-8F8F982606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1233176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757263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23462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895457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57280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 embedding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96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ArabBERT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443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TF-IDF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589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Fasttext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93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ArabBERT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72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504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4C2E-9303-EEC6-9BD3-4FA8D52FC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 Best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80193-7B43-792F-5A89-B9D910F51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Best overall classifier: Logistic Regression, especially with TF-IDF or AraBERT.</a:t>
            </a:r>
          </a:p>
          <a:p>
            <a:r>
              <a:rPr lang="en-US" dirty="0"/>
              <a:t>Deep learning model:</a:t>
            </a:r>
          </a:p>
          <a:p>
            <a:r>
              <a:rPr lang="en-US" dirty="0"/>
              <a:t>RNN: gives constant results for both embeddings </a:t>
            </a:r>
          </a:p>
          <a:p>
            <a:r>
              <a:rPr lang="en-US" dirty="0"/>
              <a:t>LSTM: gives better results when using </a:t>
            </a:r>
            <a:r>
              <a:rPr lang="en-US" dirty="0" err="1"/>
              <a:t>ArabBERT</a:t>
            </a:r>
            <a:r>
              <a:rPr lang="en-US" dirty="0"/>
              <a:t> but under </a:t>
            </a:r>
            <a:r>
              <a:rPr lang="en-US" dirty="0" err="1"/>
              <a:t>achives</a:t>
            </a:r>
            <a:r>
              <a:rPr lang="en-US" dirty="0"/>
              <a:t> with </a:t>
            </a:r>
            <a:r>
              <a:rPr lang="en-US" dirty="0" err="1"/>
              <a:t>faasttext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2650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5C6A1-B74A-D8CB-C907-50E67183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 Best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5E7CA-C6AD-9377-AF73-C7B0E57AF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Strong Generalization Across Embeddings</a:t>
            </a:r>
          </a:p>
          <a:p>
            <a:r>
              <a:rPr lang="en-US" dirty="0"/>
              <a:t>Logistic Regression performs consistently well across different types of embeddings:</a:t>
            </a:r>
          </a:p>
          <a:p>
            <a:r>
              <a:rPr lang="en-US" b="1" dirty="0"/>
              <a:t>TF-IDF</a:t>
            </a:r>
            <a:r>
              <a:rPr lang="en-US" dirty="0"/>
              <a:t>: it achieved the </a:t>
            </a:r>
            <a:r>
              <a:rPr lang="en-US" b="1" dirty="0"/>
              <a:t>highest accuracy and F1-score (0.87)</a:t>
            </a:r>
            <a:r>
              <a:rPr lang="en-US" dirty="0"/>
              <a:t> among all models and embeddings.</a:t>
            </a:r>
          </a:p>
          <a:p>
            <a:r>
              <a:rPr lang="en-US" b="1" dirty="0"/>
              <a:t>AraBERT</a:t>
            </a:r>
            <a:r>
              <a:rPr lang="en-US" dirty="0"/>
              <a:t>: it remained strong at </a:t>
            </a:r>
            <a:r>
              <a:rPr lang="en-US" b="1" dirty="0"/>
              <a:t>0.85</a:t>
            </a:r>
            <a:r>
              <a:rPr lang="en-US" dirty="0"/>
              <a:t>, showing it can adapt well to both shallow and contextual embeddings.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381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6F7B-4590-1CB0-F14A-F062D8BF7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 Best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FEE32-1369-9465-AC49-E0ECDFCAF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Balanced Simplicity and Performance</a:t>
            </a:r>
          </a:p>
          <a:p>
            <a:r>
              <a:rPr lang="en-US" dirty="0"/>
              <a:t>Logistic Regression is a </a:t>
            </a:r>
            <a:r>
              <a:rPr lang="en-US" b="1" dirty="0"/>
              <a:t>linear classifier</a:t>
            </a:r>
            <a:r>
              <a:rPr lang="en-US" dirty="0"/>
              <a:t>, meaning:</a:t>
            </a:r>
          </a:p>
          <a:p>
            <a:r>
              <a:rPr lang="en-US" dirty="0"/>
              <a:t>It’s </a:t>
            </a:r>
            <a:r>
              <a:rPr lang="en-US" b="1" dirty="0"/>
              <a:t>easy to train</a:t>
            </a:r>
            <a:r>
              <a:rPr lang="en-US" dirty="0"/>
              <a:t> (no vanishing gradients or long training times).</a:t>
            </a:r>
          </a:p>
          <a:p>
            <a:r>
              <a:rPr lang="en-US" dirty="0"/>
              <a:t>It’s </a:t>
            </a:r>
            <a:r>
              <a:rPr lang="en-US" b="1" dirty="0"/>
              <a:t>fast</a:t>
            </a:r>
            <a:r>
              <a:rPr lang="en-US" dirty="0"/>
              <a:t> and </a:t>
            </a:r>
            <a:r>
              <a:rPr lang="en-US" b="1" dirty="0"/>
              <a:t>less memory-intensive</a:t>
            </a:r>
            <a:r>
              <a:rPr lang="en-US" dirty="0"/>
              <a:t> than deep models like RNN/LSTM.</a:t>
            </a:r>
          </a:p>
          <a:p>
            <a:r>
              <a:rPr lang="en-US" dirty="0"/>
              <a:t>Despite its simplicity, it </a:t>
            </a:r>
            <a:r>
              <a:rPr lang="en-US" b="1" dirty="0"/>
              <a:t>outperforms</a:t>
            </a:r>
            <a:r>
              <a:rPr lang="en-US" dirty="0"/>
              <a:t> or matches complex models like LSTM, which require much more computation.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6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C132A-06EB-B72A-E158-6915C6691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 </a:t>
            </a:r>
            <a:r>
              <a:rPr lang="en-US"/>
              <a:t>Best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80C79-CEB4-0A27-B905-3F73A6C81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High Compatibility with Sparse and Dense Embeddings</a:t>
            </a:r>
          </a:p>
          <a:p>
            <a:r>
              <a:rPr lang="en-US" dirty="0"/>
              <a:t>Performs extremely well with </a:t>
            </a:r>
            <a:r>
              <a:rPr lang="en-US" b="1" dirty="0"/>
              <a:t>TF-IDF</a:t>
            </a:r>
            <a:r>
              <a:rPr lang="en-US" dirty="0"/>
              <a:t> (a sparse, high-dimensional representation).</a:t>
            </a:r>
          </a:p>
          <a:p>
            <a:r>
              <a:rPr lang="en-US" dirty="0"/>
              <a:t>Also performs well with </a:t>
            </a:r>
            <a:r>
              <a:rPr lang="en-US" b="1" dirty="0"/>
              <a:t>AraBERT</a:t>
            </a:r>
            <a:r>
              <a:rPr lang="en-US" dirty="0"/>
              <a:t> (dense, contextual embedding).</a:t>
            </a:r>
          </a:p>
          <a:p>
            <a:r>
              <a:rPr lang="en-US" dirty="0"/>
              <a:t>Unlike Naïve Bayes (which struggles with contextual data) and LSTM (which fails with </a:t>
            </a:r>
            <a:r>
              <a:rPr lang="en-US" dirty="0" err="1"/>
              <a:t>FastText</a:t>
            </a:r>
            <a:r>
              <a:rPr lang="en-US" dirty="0"/>
              <a:t>), Logistic Regression handles both types well — making it a </a:t>
            </a:r>
            <a:r>
              <a:rPr lang="en-US" b="1" dirty="0"/>
              <a:t>versatile option</a:t>
            </a:r>
            <a:r>
              <a:rPr lang="en-US" dirty="0"/>
              <a:t> for many NLP tasks.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621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1321</Words>
  <Application>Microsoft Office PowerPoint</Application>
  <PresentationFormat>Widescreen</PresentationFormat>
  <Paragraphs>273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NLP Classification </vt:lpstr>
      <vt:lpstr>Preprocessing </vt:lpstr>
      <vt:lpstr>More in preprocessing  Used libraries </vt:lpstr>
      <vt:lpstr>More about preprocessing other libraries  </vt:lpstr>
      <vt:lpstr>Differece  between re.sub() &amp; str.replace()</vt:lpstr>
      <vt:lpstr>Removing stop words (relying in the dataset) Total words = 472,696,   stopwords = 63,017, stopwords ratio ~ 17% </vt:lpstr>
      <vt:lpstr>Removing stopwords (classification task)</vt:lpstr>
      <vt:lpstr>Example Before and After Preprocessing</vt:lpstr>
      <vt:lpstr>PowerPoint Presentation</vt:lpstr>
      <vt:lpstr>Naïve Bayes </vt:lpstr>
      <vt:lpstr>Logistic Regression </vt:lpstr>
      <vt:lpstr>RNN</vt:lpstr>
      <vt:lpstr>LSTM</vt:lpstr>
      <vt:lpstr>Best Embedding technique </vt:lpstr>
      <vt:lpstr>Cont. Best Embeddings technique </vt:lpstr>
      <vt:lpstr>Best Model </vt:lpstr>
      <vt:lpstr>Cont. Best Model</vt:lpstr>
      <vt:lpstr>Cont. Best Model</vt:lpstr>
      <vt:lpstr>Cont. Best Model</vt:lpstr>
      <vt:lpstr>Cont. Best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ALOUDAT</dc:creator>
  <cp:lastModifiedBy>FERAS ALOUDAT</cp:lastModifiedBy>
  <cp:revision>15</cp:revision>
  <dcterms:created xsi:type="dcterms:W3CDTF">2025-06-09T22:36:40Z</dcterms:created>
  <dcterms:modified xsi:type="dcterms:W3CDTF">2025-06-10T17:14:05Z</dcterms:modified>
</cp:coreProperties>
</file>